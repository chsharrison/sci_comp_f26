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3" r:id="rId27"/>
    <p:sldId id="284" r:id="rId28"/>
    <p:sldId id="285" r:id="rId29"/>
    <p:sldId id="286" r:id="rId30"/>
    <p:sldId id="288" r:id="rId31"/>
    <p:sldId id="287" r:id="rId32"/>
    <p:sldId id="289" r:id="rId33"/>
    <p:sldId id="290" r:id="rId34"/>
    <p:sldId id="291" r:id="rId35"/>
  </p:sldIdLst>
  <p:sldSz cx="12192000" cy="6858000"/>
  <p:notesSz cx="6858000" cy="9144000"/>
  <p:defaultTextStyle>
    <a:defPPr>
      <a:defRPr lang="en-G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E3C"/>
    <a:srgbClr val="76E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32"/>
    <p:restoredTop sz="94714"/>
  </p:normalViewPr>
  <p:slideViewPr>
    <p:cSldViewPr snapToGrid="0">
      <p:cViewPr varScale="1">
        <p:scale>
          <a:sx n="115" d="100"/>
          <a:sy n="115" d="100"/>
        </p:scale>
        <p:origin x="6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1755AA-55C6-C94F-BE8B-5E7F9B9A4AFB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B84C11-52A5-5847-9E2B-18D8815A7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736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b560c6ed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b560c6ed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0A76E-3916-D6A6-6F28-7EC505EE42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349CE9-537F-5E15-AD52-386B413E01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71696-14C6-1062-535F-44E484A4E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6422-B67C-3B47-ADFF-0DA4F822228D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01F36-CED2-FA58-757E-5CD6ABA2B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DBEE4-93AD-1E3A-D95C-F4B5C49AF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92F2C-1465-F34A-B2D1-DB052E9A9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660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072EB-C2AF-50E2-F803-4D59E6C4B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55EC4-3D71-6489-AF57-14BF04CAF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253C0C-580E-1A87-6985-20778DEE6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6422-B67C-3B47-ADFF-0DA4F822228D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8D82FD-5A04-06C2-E7DB-5B6DED6BE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25C54-D98B-9CB8-3CD0-14A405956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92F2C-1465-F34A-B2D1-DB052E9A9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824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310A0-1335-2B3E-6734-9514651BB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FE70C8-62B8-6169-72FA-570846A4CC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20F6B-2886-E0AF-B43A-E102229DA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6422-B67C-3B47-ADFF-0DA4F822228D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84009-A108-BEFD-4B3D-733E72C70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CE868-A146-45B5-0469-763CD6CD5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92F2C-1465-F34A-B2D1-DB052E9A9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333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890AB-82C0-DF75-46CC-86C6AEA19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68028-801E-543A-3B2B-29FD8A1347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2FF1B0-54F3-E339-F864-96EAEAB1E1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7C6776-56AC-E3B1-209D-783E7FD93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6422-B67C-3B47-ADFF-0DA4F822228D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40D2F8-8C87-DFFF-62E5-BB6FA2BDD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9552D4-CB13-2445-EE25-02C6EC701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92F2C-1465-F34A-B2D1-DB052E9A9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320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E5366-5832-4EE3-6107-EB8226122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5E637A-523A-9C7D-324B-972775B57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F19AF-BB71-5EE5-A112-FD1429AA35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0B4272-0E10-805E-0BAE-1F3CC5754F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D73E79-795E-2595-B9DC-60A5EEF14D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57A21D-2D6C-34A9-87EA-30007F1BB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6422-B67C-3B47-ADFF-0DA4F822228D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4BA792-65A1-2FE7-4CF2-3D3BD7C43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41E797-E34B-02A8-36FA-A6DF5CB3D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92F2C-1465-F34A-B2D1-DB052E9A9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682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FEEB1-B5F4-1C04-B64F-2DDC67D8D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6098F4-1DC3-8E07-D56E-E6D5DA1E8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6422-B67C-3B47-ADFF-0DA4F822228D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8A56A0-4153-A7EF-752F-AF741EA0A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98869D-13BD-17EB-4CCB-3E171A9AE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92F2C-1465-F34A-B2D1-DB052E9A9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734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EEFABC-451B-DD26-0C34-975ECF352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6422-B67C-3B47-ADFF-0DA4F822228D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3DC4FD-E38D-B704-DC79-F7E7D23CF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85D70-B3BF-1861-50E8-9C406CE92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92F2C-1465-F34A-B2D1-DB052E9A9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133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2BE7C-DAC3-6E8C-08FE-3D4262B27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B86FE-B16F-7C40-A3DE-EB8810563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E716FF-DA0D-41D1-046C-9D260DFC45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31EC5-9566-1AAE-E9C7-5730E78A1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6422-B67C-3B47-ADFF-0DA4F822228D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5BB369-9650-D9A5-0A86-C67F6D3A8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D4DB1B-D4D8-F741-E724-2FECB328C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92F2C-1465-F34A-B2D1-DB052E9A9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23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E2D17-E7E5-A5D8-CC62-52B3D625D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ED80F9-3DA2-DDFF-DB35-1FB39DFC8D4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8827C5-FA12-6C06-C157-827C550D60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2DB435-679A-C3FE-DDD1-9332117C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6422-B67C-3B47-ADFF-0DA4F822228D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BF2206-5C78-E5CF-CDC1-1C6C5988B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7D4A4E-94D8-8B22-C224-9F704AACD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92F2C-1465-F34A-B2D1-DB052E9A9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846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201D0-0B9A-F5D5-61EC-30A597524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BDD0B0-3533-0D4B-0633-57E13BC35E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0C0E9-D363-265D-36B9-6E3DDE802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6422-B67C-3B47-ADFF-0DA4F822228D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A83C09-7E65-286D-6776-E946DF969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89E01-680E-2721-9C5E-7157F8654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92F2C-1465-F34A-B2D1-DB052E9A9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2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01E5C4-A3F5-D425-0EA1-C9DE116952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F80CA7-2245-FDE7-6AF9-C213058832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60B35C-DC68-2998-D500-04DE75BFE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6422-B67C-3B47-ADFF-0DA4F822228D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3109B-4836-021C-2A67-7367B91CB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BEF3A-9A19-589A-52FE-78BF06932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92F2C-1465-F34A-B2D1-DB052E9A9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754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849DE7-9F19-3CC9-F71E-51F06D1CA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315466-C511-2C40-310E-5BF63F379B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46515-77B1-4320-50EF-BF9A5AECA4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EB6422-B67C-3B47-ADFF-0DA4F822228D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09A44-5287-E7F8-B357-8960875B6E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8341A-7F77-F3FD-4AF1-06ED2ACA0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592F2C-1465-F34A-B2D1-DB052E9A9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264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481494B-B8A5-74A3-1A0C-2E39BAEBCB5F}"/>
              </a:ext>
            </a:extLst>
          </p:cNvPr>
          <p:cNvSpPr txBox="1"/>
          <p:nvPr/>
        </p:nvSpPr>
        <p:spPr>
          <a:xfrm>
            <a:off x="59267" y="0"/>
            <a:ext cx="12065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tint val="66000"/>
                  <a:satMod val="160000"/>
                </a:schemeClr>
              </a:gs>
              <a:gs pos="50000">
                <a:schemeClr val="accent3">
                  <a:tint val="44500"/>
                  <a:satMod val="160000"/>
                </a:schemeClr>
              </a:gs>
              <a:gs pos="100000">
                <a:schemeClr val="accent3">
                  <a:tint val="23500"/>
                  <a:satMod val="160000"/>
                </a:schemeClr>
              </a:gs>
            </a:gsLst>
            <a:lin ang="8100000" scaled="1"/>
            <a:tileRect/>
          </a:gra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4FA9CD-7CB2-6E0E-6CC6-36F9932F61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96999"/>
            <a:ext cx="9144000" cy="2032001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Developing Species Distribution Models in 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CFAD7B-8390-EE54-1FF2-B2B823831E8F}"/>
              </a:ext>
            </a:extLst>
          </p:cNvPr>
          <p:cNvSpPr txBox="1"/>
          <p:nvPr/>
        </p:nvSpPr>
        <p:spPr>
          <a:xfrm>
            <a:off x="9389533" y="6417734"/>
            <a:ext cx="27347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Guest Lecture: Kesse Asante</a:t>
            </a:r>
          </a:p>
        </p:txBody>
      </p:sp>
    </p:spTree>
    <p:extLst>
      <p:ext uri="{BB962C8B-B14F-4D97-AF65-F5344CB8AC3E}">
        <p14:creationId xmlns:p14="http://schemas.microsoft.com/office/powerpoint/2010/main" val="2806141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C306853-86E0-6202-FEC7-CBF6B975E035}"/>
              </a:ext>
            </a:extLst>
          </p:cNvPr>
          <p:cNvSpPr txBox="1"/>
          <p:nvPr/>
        </p:nvSpPr>
        <p:spPr>
          <a:xfrm>
            <a:off x="63500" y="-1"/>
            <a:ext cx="12065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tint val="66000"/>
                  <a:satMod val="160000"/>
                </a:schemeClr>
              </a:gs>
              <a:gs pos="50000">
                <a:schemeClr val="accent3">
                  <a:tint val="44500"/>
                  <a:satMod val="160000"/>
                </a:schemeClr>
              </a:gs>
              <a:gs pos="100000">
                <a:schemeClr val="accent3">
                  <a:tint val="23500"/>
                  <a:satMod val="160000"/>
                </a:schemeClr>
              </a:gs>
            </a:gsLst>
            <a:lin ang="8100000" scaled="1"/>
            <a:tileRect/>
          </a:gra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51608-56D6-EC1E-3B4B-A20DABAB71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333" y="177804"/>
            <a:ext cx="10828867" cy="6773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H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species distribution modeling (SDM)?</a:t>
            </a:r>
            <a:endParaRPr lang="en-GH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H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AC8A35-2DA4-ED89-AC00-45FF40F65750}"/>
              </a:ext>
            </a:extLst>
          </p:cNvPr>
          <p:cNvSpPr txBox="1"/>
          <p:nvPr/>
        </p:nvSpPr>
        <p:spPr>
          <a:xfrm>
            <a:off x="10981266" y="6460836"/>
            <a:ext cx="1329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Assis (2024)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C4B0BF9-C920-EE74-03F4-A8D39A4B7165}"/>
              </a:ext>
            </a:extLst>
          </p:cNvPr>
          <p:cNvSpPr/>
          <p:nvPr/>
        </p:nvSpPr>
        <p:spPr>
          <a:xfrm>
            <a:off x="207431" y="1532466"/>
            <a:ext cx="6049435" cy="418253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H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Process of </a:t>
            </a:r>
            <a:r>
              <a:rPr kumimoji="0" lang="en-GH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using computer algorithms to estimate and predict the relationship</a:t>
            </a:r>
            <a:r>
              <a:rPr kumimoji="0" lang="en-GH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GH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between species distributions</a:t>
            </a:r>
            <a:r>
              <a:rPr kumimoji="0" lang="en-GH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(occurrence, abundance) </a:t>
            </a:r>
            <a:r>
              <a:rPr kumimoji="0" lang="en-GH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and the environmental</a:t>
            </a:r>
            <a:r>
              <a:rPr kumimoji="0" lang="en-GH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B82C3D2-646A-783A-8ADD-83C659E91CDD}"/>
              </a:ext>
            </a:extLst>
          </p:cNvPr>
          <p:cNvSpPr/>
          <p:nvPr/>
        </p:nvSpPr>
        <p:spPr>
          <a:xfrm>
            <a:off x="6747933" y="1126067"/>
            <a:ext cx="5135032" cy="5215463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81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H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</a:p>
          <a:p>
            <a:pPr marL="22860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H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 insights into species' environmental tolerances and habitat preferences.</a:t>
            </a:r>
          </a:p>
          <a:p>
            <a:pPr marL="22860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H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spatial predictions of geographic distributions across space and time.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1011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27BFF8E-9559-4D43-0F6B-87F08137FA8A}"/>
              </a:ext>
            </a:extLst>
          </p:cNvPr>
          <p:cNvSpPr txBox="1"/>
          <p:nvPr/>
        </p:nvSpPr>
        <p:spPr>
          <a:xfrm>
            <a:off x="63500" y="0"/>
            <a:ext cx="12065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tint val="66000"/>
                  <a:satMod val="160000"/>
                </a:schemeClr>
              </a:gs>
              <a:gs pos="50000">
                <a:schemeClr val="accent3">
                  <a:tint val="44500"/>
                  <a:satMod val="160000"/>
                </a:schemeClr>
              </a:gs>
              <a:gs pos="100000">
                <a:schemeClr val="accent3">
                  <a:tint val="23500"/>
                  <a:satMod val="160000"/>
                </a:schemeClr>
              </a:gs>
            </a:gsLst>
            <a:lin ang="8100000" scaled="1"/>
            <a:tileRect/>
          </a:gra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038A51-53FE-1C69-022B-1D2BF8209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" y="775128"/>
            <a:ext cx="6572063" cy="23450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A61A41-4917-EB8F-E5C0-E7824E6338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3429000"/>
            <a:ext cx="6534808" cy="24468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135C7EE-A55C-A40B-E2F7-2EBB402DC83A}"/>
              </a:ext>
            </a:extLst>
          </p:cNvPr>
          <p:cNvSpPr txBox="1"/>
          <p:nvPr/>
        </p:nvSpPr>
        <p:spPr>
          <a:xfrm>
            <a:off x="618067" y="125954"/>
            <a:ext cx="6705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Species Records + environmental layers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F3C3A26-726A-2567-5F2D-26FA1626D697}"/>
              </a:ext>
            </a:extLst>
          </p:cNvPr>
          <p:cNvSpPr/>
          <p:nvPr/>
        </p:nvSpPr>
        <p:spPr>
          <a:xfrm>
            <a:off x="6731000" y="980864"/>
            <a:ext cx="5240867" cy="1933601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H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observed distribution reflects</a:t>
            </a:r>
          </a:p>
          <a:p>
            <a:r>
              <a:rPr lang="en-GH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species' environmental requirements.</a:t>
            </a:r>
          </a:p>
          <a:p>
            <a:pPr algn="ctr"/>
            <a:endParaRPr lang="en-US"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70AE1D4-5ED5-6E03-4FD6-624D26D5873F}"/>
              </a:ext>
            </a:extLst>
          </p:cNvPr>
          <p:cNvSpPr/>
          <p:nvPr/>
        </p:nvSpPr>
        <p:spPr>
          <a:xfrm>
            <a:off x="6833564" y="3584033"/>
            <a:ext cx="5035737" cy="1933601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environmental conditions to explain species distribution.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419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DFB1FE-AF94-42D4-AFB8-B96F905CE2E3}"/>
              </a:ext>
            </a:extLst>
          </p:cNvPr>
          <p:cNvSpPr txBox="1"/>
          <p:nvPr/>
        </p:nvSpPr>
        <p:spPr>
          <a:xfrm>
            <a:off x="63500" y="0"/>
            <a:ext cx="12065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tint val="66000"/>
                  <a:satMod val="160000"/>
                </a:schemeClr>
              </a:gs>
              <a:gs pos="50000">
                <a:schemeClr val="accent3">
                  <a:tint val="44500"/>
                  <a:satMod val="160000"/>
                </a:schemeClr>
              </a:gs>
              <a:gs pos="100000">
                <a:schemeClr val="accent3">
                  <a:tint val="23500"/>
                  <a:satMod val="160000"/>
                </a:schemeClr>
              </a:gs>
            </a:gsLst>
            <a:lin ang="8100000" scaled="1"/>
            <a:tileRect/>
          </a:gra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16E9369-BB16-51E5-F54D-43A325D69F18}"/>
              </a:ext>
            </a:extLst>
          </p:cNvPr>
          <p:cNvSpPr/>
          <p:nvPr/>
        </p:nvSpPr>
        <p:spPr>
          <a:xfrm>
            <a:off x="63500" y="237067"/>
            <a:ext cx="12065000" cy="6028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F2770-A75D-D794-DDE1-B7EA9AC15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" y="753533"/>
            <a:ext cx="11950700" cy="538480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H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SDMs matter (marine focus)</a:t>
            </a:r>
            <a:endParaRPr lang="en-GH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GH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Increasingly vital tools </a:t>
            </a:r>
            <a:r>
              <a:rPr lang="en-GH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marine science and resource management.</a:t>
            </a:r>
          </a:p>
          <a:p>
            <a:pPr>
              <a:lnSpc>
                <a:spcPct val="150000"/>
              </a:lnSpc>
            </a:pPr>
            <a:r>
              <a:rPr lang="en-GH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Ecology</a:t>
            </a:r>
            <a:r>
              <a:rPr lang="en-GH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understand the drivers and patterns of species distributions.</a:t>
            </a:r>
          </a:p>
          <a:p>
            <a:pPr>
              <a:lnSpc>
                <a:spcPct val="150000"/>
              </a:lnSpc>
            </a:pPr>
            <a:r>
              <a:rPr lang="en-GH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Conservation planning and Marine Spatial Planning</a:t>
            </a:r>
            <a:r>
              <a:rPr lang="en-GH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identify areas for conservation (e.g.,</a:t>
            </a:r>
          </a:p>
          <a:p>
            <a:pPr>
              <a:lnSpc>
                <a:spcPct val="150000"/>
              </a:lnSpc>
            </a:pPr>
            <a:r>
              <a:rPr lang="en-GH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MPA design); evaluate the potential of invasive species to settle in new areas; identify suitable areas for aquaculture.</a:t>
            </a:r>
          </a:p>
          <a:p>
            <a:pPr>
              <a:lnSpc>
                <a:spcPct val="150000"/>
              </a:lnSpc>
            </a:pPr>
            <a:r>
              <a:rPr lang="en-GH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Fisheries management: identify suitable areas of commercial species (e.g., habitat mapping).</a:t>
            </a:r>
          </a:p>
          <a:p>
            <a:pPr>
              <a:lnSpc>
                <a:spcPct val="150000"/>
              </a:lnSpc>
            </a:pPr>
            <a:r>
              <a:rPr lang="en-GH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Climate change ecology: project climate change impacts (e.g., feed IPCC reports).</a:t>
            </a:r>
          </a:p>
        </p:txBody>
      </p:sp>
    </p:spTree>
    <p:extLst>
      <p:ext uri="{BB962C8B-B14F-4D97-AF65-F5344CB8AC3E}">
        <p14:creationId xmlns:p14="http://schemas.microsoft.com/office/powerpoint/2010/main" val="2703295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0CE9601-EFD9-DBF2-BF5A-813755B08DB8}"/>
              </a:ext>
            </a:extLst>
          </p:cNvPr>
          <p:cNvSpPr txBox="1"/>
          <p:nvPr/>
        </p:nvSpPr>
        <p:spPr>
          <a:xfrm>
            <a:off x="59267" y="0"/>
            <a:ext cx="12065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tint val="66000"/>
                  <a:satMod val="160000"/>
                </a:schemeClr>
              </a:gs>
              <a:gs pos="50000">
                <a:schemeClr val="accent3">
                  <a:tint val="44500"/>
                  <a:satMod val="160000"/>
                </a:schemeClr>
              </a:gs>
              <a:gs pos="100000">
                <a:schemeClr val="accent3">
                  <a:tint val="23500"/>
                  <a:satMod val="160000"/>
                </a:schemeClr>
              </a:gs>
            </a:gsLst>
            <a:lin ang="8100000" scaled="1"/>
            <a:tileRect/>
          </a:gra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0C946C-AD28-27CE-0F78-2F1941313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000" y="462651"/>
            <a:ext cx="7772400" cy="34884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EA736D-EFE5-0AFD-67A3-C0FEECC621A9}"/>
              </a:ext>
            </a:extLst>
          </p:cNvPr>
          <p:cNvSpPr txBox="1"/>
          <p:nvPr/>
        </p:nvSpPr>
        <p:spPr>
          <a:xfrm>
            <a:off x="283329" y="1286933"/>
            <a:ext cx="26068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Building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4E0AB90-00C7-800F-BB8D-A588CAAE2967}"/>
              </a:ext>
            </a:extLst>
          </p:cNvPr>
          <p:cNvSpPr/>
          <p:nvPr/>
        </p:nvSpPr>
        <p:spPr>
          <a:xfrm>
            <a:off x="482599" y="4413766"/>
            <a:ext cx="11040533" cy="1933601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H" sz="2800" dirty="0"/>
              <a:t>The goal is to build ecologically meaningful models fit for the purpose (e.g., conservation planning and climate impact assessment).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175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l="15973" t="4795" r="16660" b="8347"/>
          <a:stretch/>
        </p:blipFill>
        <p:spPr>
          <a:xfrm>
            <a:off x="4376383" y="341705"/>
            <a:ext cx="1793583" cy="1055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69968" y="341605"/>
            <a:ext cx="1670500" cy="10457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2244834"/>
            <a:ext cx="2729000" cy="1669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73600" y="1793467"/>
            <a:ext cx="4822899" cy="161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 rotWithShape="1">
          <a:blip r:embed="rId7">
            <a:alphaModFix/>
          </a:blip>
          <a:srcRect l="2290" t="-3274" r="-4529" b="13322"/>
          <a:stretch/>
        </p:blipFill>
        <p:spPr>
          <a:xfrm>
            <a:off x="9710100" y="2153533"/>
            <a:ext cx="2481899" cy="173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65900" y="3671567"/>
            <a:ext cx="4633533" cy="1387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206217" y="5324067"/>
            <a:ext cx="3779567" cy="1541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" name="Google Shape;61;p13"/>
          <p:cNvCxnSpPr>
            <a:cxnSpLocks/>
            <a:stCxn id="54" idx="1"/>
          </p:cNvCxnSpPr>
          <p:nvPr/>
        </p:nvCxnSpPr>
        <p:spPr>
          <a:xfrm flipH="1">
            <a:off x="2778267" y="869636"/>
            <a:ext cx="1598116" cy="173316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" name="Google Shape;62;p13"/>
          <p:cNvCxnSpPr>
            <a:stCxn id="57" idx="2"/>
            <a:endCxn id="59" idx="0"/>
          </p:cNvCxnSpPr>
          <p:nvPr/>
        </p:nvCxnSpPr>
        <p:spPr>
          <a:xfrm flipH="1">
            <a:off x="6082649" y="3406467"/>
            <a:ext cx="2400" cy="26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" name="Google Shape;63;p13"/>
          <p:cNvCxnSpPr>
            <a:stCxn id="59" idx="2"/>
            <a:endCxn id="60" idx="0"/>
          </p:cNvCxnSpPr>
          <p:nvPr/>
        </p:nvCxnSpPr>
        <p:spPr>
          <a:xfrm>
            <a:off x="6082667" y="5058965"/>
            <a:ext cx="13200" cy="26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" name="Google Shape;64;p13"/>
          <p:cNvCxnSpPr>
            <a:endCxn id="59" idx="0"/>
          </p:cNvCxnSpPr>
          <p:nvPr/>
        </p:nvCxnSpPr>
        <p:spPr>
          <a:xfrm>
            <a:off x="2787467" y="2611967"/>
            <a:ext cx="3295200" cy="105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" name="Google Shape;65;p13"/>
          <p:cNvCxnSpPr>
            <a:cxnSpLocks/>
            <a:stCxn id="55" idx="3"/>
          </p:cNvCxnSpPr>
          <p:nvPr/>
        </p:nvCxnSpPr>
        <p:spPr>
          <a:xfrm>
            <a:off x="7840468" y="864504"/>
            <a:ext cx="1776865" cy="184016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" name="Google Shape;66;p13"/>
          <p:cNvCxnSpPr>
            <a:endCxn id="59" idx="0"/>
          </p:cNvCxnSpPr>
          <p:nvPr/>
        </p:nvCxnSpPr>
        <p:spPr>
          <a:xfrm flipH="1">
            <a:off x="6082667" y="2731967"/>
            <a:ext cx="3507200" cy="93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7" name="Google Shape;67;p13"/>
          <p:cNvSpPr/>
          <p:nvPr/>
        </p:nvSpPr>
        <p:spPr>
          <a:xfrm>
            <a:off x="4015533" y="1793467"/>
            <a:ext cx="214400" cy="158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Google Shape;68;p13"/>
          <p:cNvSpPr/>
          <p:nvPr/>
        </p:nvSpPr>
        <p:spPr>
          <a:xfrm>
            <a:off x="5989467" y="1782167"/>
            <a:ext cx="214400" cy="158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-89933" y="1875867"/>
            <a:ext cx="30712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GB" sz="1400" b="1" dirty="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    </a:t>
            </a:r>
            <a:r>
              <a:rPr lang="en-GB" sz="1400" dirty="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Sea level Variations?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Google Shape;70;p13"/>
          <p:cNvSpPr txBox="1"/>
          <p:nvPr/>
        </p:nvSpPr>
        <p:spPr>
          <a:xfrm>
            <a:off x="7861600" y="347428"/>
            <a:ext cx="2059600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-GB" sz="1400" dirty="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Climate Change and SAI</a:t>
            </a:r>
            <a:r>
              <a:rPr lang="en-GB" sz="1400" b="1" dirty="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 </a:t>
            </a:r>
            <a:endParaRPr sz="1400" b="1" dirty="0">
              <a:latin typeface="Arial" panose="020B0604020202020204" pitchFamily="34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5198684" y="1321867"/>
            <a:ext cx="25340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GB" sz="140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Coastal Landscape?</a:t>
            </a:r>
            <a:endParaRPr sz="1400">
              <a:latin typeface="Arial" panose="020B0604020202020204" pitchFamily="34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9875800" y="1570679"/>
            <a:ext cx="2104400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-GB" sz="140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Air Temperature and Precipitation?</a:t>
            </a:r>
            <a:endParaRPr sz="1400">
              <a:latin typeface="Arial" panose="020B0604020202020204" pitchFamily="34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73" name="Google Shape;73;p13"/>
          <p:cNvSpPr txBox="1"/>
          <p:nvPr/>
        </p:nvSpPr>
        <p:spPr>
          <a:xfrm rot="18744776">
            <a:off x="2817241" y="1207820"/>
            <a:ext cx="164812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Change?</a:t>
            </a:r>
            <a:endParaRPr sz="1400" dirty="0">
              <a:latin typeface="Arial" panose="020B0604020202020204" pitchFamily="34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74" name="Google Shape;74;p13"/>
          <p:cNvSpPr txBox="1"/>
          <p:nvPr/>
        </p:nvSpPr>
        <p:spPr>
          <a:xfrm rot="2831902">
            <a:off x="8349235" y="1709950"/>
            <a:ext cx="151758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Change?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3463700" y="3252267"/>
            <a:ext cx="19512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Compound Effect?</a:t>
            </a:r>
            <a:endParaRPr sz="1400" dirty="0">
              <a:latin typeface="Arial" panose="020B0604020202020204" pitchFamily="34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8399433" y="3765467"/>
            <a:ext cx="3114400" cy="10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GB" sz="140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Global Mangrove Status: Projected Changes of Extent, Distribution, and Biomass?</a:t>
            </a:r>
            <a:endParaRPr sz="1400">
              <a:solidFill>
                <a:schemeClr val="dk1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77" name="Google Shape;77;p13"/>
          <p:cNvSpPr txBox="1"/>
          <p:nvPr/>
        </p:nvSpPr>
        <p:spPr>
          <a:xfrm>
            <a:off x="1808600" y="5717600"/>
            <a:ext cx="2482000" cy="11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GB" sz="1400" dirty="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Fate of Blue Carbon, Mangrove Carbon Stocks?</a:t>
            </a:r>
            <a:endParaRPr sz="1400" dirty="0">
              <a:solidFill>
                <a:schemeClr val="dk1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79" name="Google Shape;79;p13"/>
          <p:cNvSpPr txBox="1"/>
          <p:nvPr/>
        </p:nvSpPr>
        <p:spPr>
          <a:xfrm>
            <a:off x="78100" y="3765467"/>
            <a:ext cx="2572800" cy="13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GB" sz="1400" dirty="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Impacts on coastal communities and low-lying islands?</a:t>
            </a:r>
            <a:endParaRPr sz="1400" dirty="0">
              <a:solidFill>
                <a:schemeClr val="dk1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AE274-856B-BBE8-6779-771C489BC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7B113A-3A17-FC80-2B84-B84B320D917D}"/>
              </a:ext>
            </a:extLst>
          </p:cNvPr>
          <p:cNvSpPr txBox="1"/>
          <p:nvPr/>
        </p:nvSpPr>
        <p:spPr>
          <a:xfrm>
            <a:off x="63500" y="0"/>
            <a:ext cx="12065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tint val="66000"/>
                  <a:satMod val="160000"/>
                </a:schemeClr>
              </a:gs>
              <a:gs pos="50000">
                <a:schemeClr val="accent3">
                  <a:tint val="44500"/>
                  <a:satMod val="160000"/>
                </a:schemeClr>
              </a:gs>
              <a:gs pos="100000">
                <a:schemeClr val="accent3">
                  <a:tint val="23500"/>
                  <a:satMod val="160000"/>
                </a:schemeClr>
              </a:gs>
            </a:gsLst>
            <a:lin ang="8100000" scaled="1"/>
            <a:tileRect/>
          </a:gra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D743F81-335A-2302-8235-F608FDC6F68D}"/>
              </a:ext>
            </a:extLst>
          </p:cNvPr>
          <p:cNvSpPr/>
          <p:nvPr/>
        </p:nvSpPr>
        <p:spPr>
          <a:xfrm>
            <a:off x="63500" y="0"/>
            <a:ext cx="12065000" cy="685799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14C17-8D10-695D-9143-FE2690FED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067" y="372533"/>
            <a:ext cx="11565466" cy="613833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H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variables: selection</a:t>
            </a:r>
            <a:endParaRPr lang="en-GH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GH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Ecological relevance is key:</a:t>
            </a:r>
            <a:endParaRPr lang="en-GH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GH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variables known or hypothesized to directly influence the species' survival,</a:t>
            </a:r>
          </a:p>
          <a:p>
            <a:pPr>
              <a:lnSpc>
                <a:spcPct val="150000"/>
              </a:lnSpc>
            </a:pPr>
            <a:r>
              <a:rPr lang="en-GH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growth, or reproduction.</a:t>
            </a:r>
          </a:p>
          <a:p>
            <a:pPr>
              <a:lnSpc>
                <a:spcPct val="150000"/>
              </a:lnSpc>
            </a:pPr>
            <a:r>
              <a:rPr lang="en-GH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physiology and life history.</a:t>
            </a:r>
          </a:p>
          <a:p>
            <a:pPr>
              <a:lnSpc>
                <a:spcPct val="150000"/>
              </a:lnSpc>
            </a:pPr>
            <a:r>
              <a:rPr lang="en-GH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large datasets is an approach with stronger criticism.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H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marine variables:</a:t>
            </a:r>
            <a:endParaRPr lang="en-GH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GH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Physical: temperature, salinity, bathymetry, currents velocity, sea ice conditions.</a:t>
            </a:r>
          </a:p>
          <a:p>
            <a:pPr>
              <a:lnSpc>
                <a:spcPct val="150000"/>
              </a:lnSpc>
            </a:pPr>
            <a:r>
              <a:rPr lang="en-GH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Chemical: oxygen, nutrients (e.g., nitrate and phosphate).</a:t>
            </a:r>
          </a:p>
          <a:p>
            <a:pPr>
              <a:lnSpc>
                <a:spcPct val="150000"/>
              </a:lnSpc>
            </a:pPr>
            <a:r>
              <a:rPr lang="en-GH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Biological: chlorophyll-a (proxy for productivity).</a:t>
            </a:r>
          </a:p>
        </p:txBody>
      </p:sp>
    </p:spTree>
    <p:extLst>
      <p:ext uri="{BB962C8B-B14F-4D97-AF65-F5344CB8AC3E}">
        <p14:creationId xmlns:p14="http://schemas.microsoft.com/office/powerpoint/2010/main" val="3386557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A2028-9178-03E4-AB3E-08ABE4B42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93458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an SDM for Seagrass and Corals</a:t>
            </a:r>
          </a:p>
        </p:txBody>
      </p:sp>
    </p:spTree>
    <p:extLst>
      <p:ext uri="{BB962C8B-B14F-4D97-AF65-F5344CB8AC3E}">
        <p14:creationId xmlns:p14="http://schemas.microsoft.com/office/powerpoint/2010/main" val="241843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ED55C60-50F7-24E5-E18E-5CB489FEDAF5}"/>
              </a:ext>
            </a:extLst>
          </p:cNvPr>
          <p:cNvSpPr/>
          <p:nvPr/>
        </p:nvSpPr>
        <p:spPr>
          <a:xfrm>
            <a:off x="118533" y="2006600"/>
            <a:ext cx="11904134" cy="4699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D2BEFC-9ABC-A859-9EFF-8002F27F8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0"/>
            <a:ext cx="11023600" cy="681038"/>
          </a:xfrm>
        </p:spPr>
        <p:txBody>
          <a:bodyPr>
            <a:normAutofit/>
          </a:bodyPr>
          <a:lstStyle/>
          <a:p>
            <a:r>
              <a:rPr lang="en-GH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fitting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E85A0-D66C-5576-C858-9E1AAA5A0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199" y="589492"/>
            <a:ext cx="11599333" cy="968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H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fitting (i.e., the </a:t>
            </a:r>
            <a:r>
              <a:rPr lang="en-GH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between species occurrence and environmental predictors</a:t>
            </a:r>
            <a:r>
              <a:rPr lang="en-GH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the core of SDM.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42ADA9-2C8C-5F08-A154-CC019F99C810}"/>
              </a:ext>
            </a:extLst>
          </p:cNvPr>
          <p:cNvSpPr txBox="1"/>
          <p:nvPr/>
        </p:nvSpPr>
        <p:spPr>
          <a:xfrm>
            <a:off x="431800" y="1380067"/>
            <a:ext cx="363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Presence/ absence data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D81526E-B8C7-95AA-E5A8-E9C87C263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09" y="2894734"/>
            <a:ext cx="11648981" cy="2922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885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AC27F-5555-3EC6-8BC6-FBEED7644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CEC833-38E8-C7DC-E7D0-72D2E293B37A}"/>
              </a:ext>
            </a:extLst>
          </p:cNvPr>
          <p:cNvSpPr/>
          <p:nvPr/>
        </p:nvSpPr>
        <p:spPr>
          <a:xfrm>
            <a:off x="118533" y="147782"/>
            <a:ext cx="11904134" cy="65578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DA3E420-29F5-84B2-8CEF-17D3FDF6E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33" y="295564"/>
            <a:ext cx="11904134" cy="1524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41472A7-9DE2-C779-8992-63985E131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0459" y="1967346"/>
            <a:ext cx="8720281" cy="4587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6741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14A66-4D84-DA89-2154-8CC0E7F78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68B7EA7-B0E0-BFF0-8BED-951FE6E42B24}"/>
              </a:ext>
            </a:extLst>
          </p:cNvPr>
          <p:cNvSpPr/>
          <p:nvPr/>
        </p:nvSpPr>
        <p:spPr>
          <a:xfrm>
            <a:off x="118533" y="147782"/>
            <a:ext cx="11904134" cy="65578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F0A2B-8FB8-EB21-117E-AD89B1F2F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33" y="147782"/>
            <a:ext cx="11904134" cy="23443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409027-ED78-AFF3-17C1-F2E860C55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4400" y="2556496"/>
            <a:ext cx="7772400" cy="4170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118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8EAC7-D4B7-F2EE-9326-CA8566D32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18186CF-EF1B-DF3F-38AE-A9314E6F06C1}"/>
              </a:ext>
            </a:extLst>
          </p:cNvPr>
          <p:cNvSpPr/>
          <p:nvPr/>
        </p:nvSpPr>
        <p:spPr>
          <a:xfrm>
            <a:off x="118533" y="147782"/>
            <a:ext cx="11904134" cy="65578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A1BC1B-BEF7-3EF9-B4E7-E5A1FCA47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33" y="147782"/>
            <a:ext cx="11904134" cy="24395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A0658B-5F5E-EDED-05AD-238D5BB7F5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0325" y="2587362"/>
            <a:ext cx="6940550" cy="402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1458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AE2F2-E65F-776F-C064-1741DE689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E7D645E-C5A3-D5AA-7747-BA0FB6B4401C}"/>
              </a:ext>
            </a:extLst>
          </p:cNvPr>
          <p:cNvSpPr/>
          <p:nvPr/>
        </p:nvSpPr>
        <p:spPr>
          <a:xfrm>
            <a:off x="118533" y="147782"/>
            <a:ext cx="11904134" cy="65578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A858A9-A959-4E4B-5AE6-BC9008FD2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32" y="147782"/>
            <a:ext cx="11908601" cy="19765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15C4AE-54B1-2643-80E1-B5A18293E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109" y="2124364"/>
            <a:ext cx="2958833" cy="4628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4172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65545-CB5A-D340-6F2B-9F6F92BF9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468E294-9AEA-C1CF-1AEF-156C9F8AA4E5}"/>
              </a:ext>
            </a:extLst>
          </p:cNvPr>
          <p:cNvSpPr/>
          <p:nvPr/>
        </p:nvSpPr>
        <p:spPr>
          <a:xfrm>
            <a:off x="118533" y="147782"/>
            <a:ext cx="11904134" cy="65578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CFCC88-A2D8-FD46-3F76-661C0BAEC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679" y="147782"/>
            <a:ext cx="9186987" cy="18103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C2AED7-B47D-15CD-9080-B7979FF1F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149" y="2103906"/>
            <a:ext cx="6140901" cy="4455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2339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CAB66-9E55-CC1D-96D5-00CB4BD7F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DE8831E-2B06-D291-C5B2-2E84BAD7EDF7}"/>
              </a:ext>
            </a:extLst>
          </p:cNvPr>
          <p:cNvSpPr/>
          <p:nvPr/>
        </p:nvSpPr>
        <p:spPr>
          <a:xfrm>
            <a:off x="118533" y="147782"/>
            <a:ext cx="11904134" cy="65578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F823C1-60A1-C905-1047-F897B6BB3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374" y="147782"/>
            <a:ext cx="10075252" cy="2641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A90215-2E7E-0E0D-45D1-CF10E30AB2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5055" y="2590238"/>
            <a:ext cx="2650507" cy="41984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96B9D6-A04B-023D-A12A-11C3A2F5AD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0484" y="2590239"/>
            <a:ext cx="2415987" cy="4267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6830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5A816-628C-5235-71FD-716903F37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43CE2D3-712F-1CEB-16B0-2B0EB2BEA1F8}"/>
              </a:ext>
            </a:extLst>
          </p:cNvPr>
          <p:cNvSpPr/>
          <p:nvPr/>
        </p:nvSpPr>
        <p:spPr>
          <a:xfrm>
            <a:off x="118533" y="1348509"/>
            <a:ext cx="11904134" cy="53570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741813-1616-01B4-4B82-0FA2D6324626}"/>
              </a:ext>
            </a:extLst>
          </p:cNvPr>
          <p:cNvSpPr txBox="1"/>
          <p:nvPr/>
        </p:nvSpPr>
        <p:spPr>
          <a:xfrm>
            <a:off x="169334" y="55724"/>
            <a:ext cx="12022666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GH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Presence / pseudo-absence data</a:t>
            </a:r>
          </a:p>
          <a:p>
            <a:pPr fontAlgn="base"/>
            <a:r>
              <a:rPr lang="en-GH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 </a:t>
            </a:r>
            <a:r>
              <a:rPr lang="en-GH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absence data is not available</a:t>
            </a:r>
            <a:r>
              <a:rPr lang="en-GH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one wants to fit a brt model, </a:t>
            </a:r>
            <a:r>
              <a:rPr lang="en-GH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pseudo-absence</a:t>
            </a:r>
            <a:r>
              <a:rPr lang="en-GH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data can be generated.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05D546-6B93-53F8-AAB9-80384816E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2" y="1348508"/>
            <a:ext cx="11771635" cy="18749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74C5471-1609-E70A-5176-84536B1229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8047" y="3348254"/>
            <a:ext cx="7894204" cy="3232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117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95974-8D99-991A-3FAD-17763037D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AC0F11F-8AAC-2FD9-184A-8FD823CD727F}"/>
              </a:ext>
            </a:extLst>
          </p:cNvPr>
          <p:cNvSpPr/>
          <p:nvPr/>
        </p:nvSpPr>
        <p:spPr>
          <a:xfrm>
            <a:off x="118533" y="147782"/>
            <a:ext cx="11904134" cy="65578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640550-5795-7549-7B3D-A710798A4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273" y="223982"/>
            <a:ext cx="11515575" cy="10875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2DACEC-C787-447F-583A-383640063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963" y="1387764"/>
            <a:ext cx="9048073" cy="5159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749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DF9FC-7376-1835-BC29-B7B3E5265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963427-1F8B-BF2C-C72E-C8AFF13D29FC}"/>
              </a:ext>
            </a:extLst>
          </p:cNvPr>
          <p:cNvSpPr/>
          <p:nvPr/>
        </p:nvSpPr>
        <p:spPr>
          <a:xfrm>
            <a:off x="118533" y="150091"/>
            <a:ext cx="11904134" cy="65578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C260F9-7124-7C45-2A96-C9BD3C3B2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430" y="150091"/>
            <a:ext cx="10720340" cy="27642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CC2140-2180-A87D-9CBA-4DBB27BDDF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5162" y="2996124"/>
            <a:ext cx="6250876" cy="3630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3343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9F95A-69B4-8B3F-36ED-5C4C9C5F0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529DDDC-7255-C1E7-83C8-45A7D39455CA}"/>
              </a:ext>
            </a:extLst>
          </p:cNvPr>
          <p:cNvSpPr/>
          <p:nvPr/>
        </p:nvSpPr>
        <p:spPr>
          <a:xfrm>
            <a:off x="118533" y="150091"/>
            <a:ext cx="11904134" cy="65578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463073-D912-AB89-BE1A-C0CA61507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592" y="150091"/>
            <a:ext cx="11218815" cy="26213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B60587-D5FC-BB83-ED38-56A08AC05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21" y="2771455"/>
            <a:ext cx="6807157" cy="3777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4512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45C2F-123B-93BA-B4CF-6BCF6BE13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08970C-119B-87B1-3209-D47564BB6ED9}"/>
              </a:ext>
            </a:extLst>
          </p:cNvPr>
          <p:cNvSpPr/>
          <p:nvPr/>
        </p:nvSpPr>
        <p:spPr>
          <a:xfrm>
            <a:off x="118533" y="150091"/>
            <a:ext cx="11904134" cy="65578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14D284-6DCD-9FBA-4B80-0E39CD501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2" y="150090"/>
            <a:ext cx="11773285" cy="24117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019CA4-285F-E71B-8985-8761A78460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9774" y="2610292"/>
            <a:ext cx="7772400" cy="4049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9355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3F338-6EAB-6FC8-FDF4-5D1013960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EEF916D-CCDC-2D74-04FB-183169433378}"/>
              </a:ext>
            </a:extLst>
          </p:cNvPr>
          <p:cNvSpPr/>
          <p:nvPr/>
        </p:nvSpPr>
        <p:spPr>
          <a:xfrm>
            <a:off x="118533" y="150091"/>
            <a:ext cx="11904134" cy="65578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2C9E28-1B62-5CFF-5A70-0001D9849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824" y="232641"/>
            <a:ext cx="11182158" cy="22442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37D521-B504-06A6-14F2-A51747F3D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6800" y="2559429"/>
            <a:ext cx="7208404" cy="3996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5563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856A0-84FB-40E5-0C88-EA3D7B3E9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81B86D6-6463-3B4B-8E33-BA37BB593270}"/>
              </a:ext>
            </a:extLst>
          </p:cNvPr>
          <p:cNvSpPr/>
          <p:nvPr/>
        </p:nvSpPr>
        <p:spPr>
          <a:xfrm>
            <a:off x="118533" y="150091"/>
            <a:ext cx="11904134" cy="65578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2B6FEC-6055-4BA1-1A0E-89507B39E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18" y="230908"/>
            <a:ext cx="11573164" cy="22125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8E07283-513D-DD3B-0945-4B43B941BD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0552" y="2524242"/>
            <a:ext cx="7510895" cy="4117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7753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A6825-120A-D305-7645-946229DA8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8848392-6716-4AFE-8E1B-DF1CE0814C5B}"/>
              </a:ext>
            </a:extLst>
          </p:cNvPr>
          <p:cNvSpPr/>
          <p:nvPr/>
        </p:nvSpPr>
        <p:spPr>
          <a:xfrm>
            <a:off x="118533" y="150091"/>
            <a:ext cx="11904134" cy="65578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7F95EF-1760-58FC-E4B1-C891DF47E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3" y="285173"/>
            <a:ext cx="11653212" cy="19725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8D6175B-B6BA-8F66-ED87-9AE5696D1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491" y="2424134"/>
            <a:ext cx="7510895" cy="4117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3242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472E3-6964-587D-546B-99C0EF764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8AEBCA0-C2A5-C311-DD04-FA9D7A1E9B3C}"/>
              </a:ext>
            </a:extLst>
          </p:cNvPr>
          <p:cNvSpPr/>
          <p:nvPr/>
        </p:nvSpPr>
        <p:spPr>
          <a:xfrm>
            <a:off x="118533" y="150091"/>
            <a:ext cx="11904134" cy="65578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F95808-65AC-86A0-E57C-06E9EDA58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3" y="232641"/>
            <a:ext cx="11671762" cy="13190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A55CCD-1415-E99C-43C6-956A22EE8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8984" y="1636180"/>
            <a:ext cx="6594032" cy="4989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5371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47ECE-4681-87D2-C5FB-C60262BA2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2E772A5-0CC5-983B-28BC-1D42D245086D}"/>
              </a:ext>
            </a:extLst>
          </p:cNvPr>
          <p:cNvSpPr/>
          <p:nvPr/>
        </p:nvSpPr>
        <p:spPr>
          <a:xfrm>
            <a:off x="118533" y="150091"/>
            <a:ext cx="11904134" cy="65578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A60E35-2C4A-1088-0783-9B66136CC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448" y="219942"/>
            <a:ext cx="10711103" cy="22196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4A243A-9E5A-9848-6105-7064B5491D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20" y="2821294"/>
            <a:ext cx="5538740" cy="30149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0E2C7C-6810-0BD7-13ED-F995C9B7B2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340" y="2838609"/>
            <a:ext cx="5538740" cy="2997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1076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57F2B-CCB6-1E63-95EB-C3C994F3D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127" y="48635"/>
            <a:ext cx="10515600" cy="413183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 1.1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74D8F-7B0B-AB05-815F-326A82BB1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065" y="1231260"/>
            <a:ext cx="11701135" cy="5474340"/>
          </a:xfrm>
          <a:solidFill>
            <a:srgbClr val="FFCE3C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Packages, data, and function to accomplish the challenge: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H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Files to use</a:t>
            </a:r>
            <a:b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occurrenceRecords.csv</a:t>
            </a:r>
            <a: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b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"Present Benthic OceanTemperature LtMax.tif”"</a:t>
            </a:r>
            <a:b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"Present Benthic OceanTemperature LtMin.tif”"</a:t>
            </a:r>
            <a:b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"Present Benthic pH Mean.tif”"</a:t>
            </a:r>
            <a:b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Benthic Salinity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Mean.tif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b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“Present Surface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OceanTemperature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LtMax.tif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b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“Present Surface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OceanTemperature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LtMin.tif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b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H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to use</a:t>
            </a:r>
            <a:b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library (</a:t>
            </a:r>
            <a:r>
              <a:rPr lang="en-GH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are starting over again</a:t>
            </a:r>
            <a: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rast</a:t>
            </a:r>
            <a:b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</a:t>
            </a:r>
            <a:b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studyRegion</a:t>
            </a:r>
            <a:b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pseudoAbsences</a:t>
            </a:r>
            <a:b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</a:t>
            </a:r>
            <a:b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mask</a:t>
            </a:r>
            <a:b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generateModelData</a:t>
            </a:r>
            <a:b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trainModel</a:t>
            </a:r>
            <a:b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predictModel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3DC415-0F43-32F9-09C9-7916F1C7FDEA}"/>
              </a:ext>
            </a:extLst>
          </p:cNvPr>
          <p:cNvSpPr txBox="1"/>
          <p:nvPr/>
        </p:nvSpPr>
        <p:spPr>
          <a:xfrm>
            <a:off x="186065" y="461818"/>
            <a:ext cx="1181987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H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of this challenge is to </a:t>
            </a:r>
            <a:r>
              <a:rPr lang="en-GH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</a:t>
            </a:r>
            <a:r>
              <a:rPr lang="en-GH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 brt model to occurrence (presence / pseudo absence) and environmental data – Study region: Tropical Americas and Caribbean </a:t>
            </a:r>
            <a:r>
              <a:rPr lang="en-GH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</a:t>
            </a:r>
            <a: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(-100, -55, 0, 32))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42432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ACD3B-C8CA-7E7F-3500-F874E7E23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1889868-1F3F-11BE-FC3E-427A27ECBAF9}"/>
              </a:ext>
            </a:extLst>
          </p:cNvPr>
          <p:cNvSpPr/>
          <p:nvPr/>
        </p:nvSpPr>
        <p:spPr>
          <a:xfrm>
            <a:off x="118533" y="1348509"/>
            <a:ext cx="11904134" cy="53570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F5CD81-DCB0-6B46-64AD-0B261B77F0A1}"/>
              </a:ext>
            </a:extLst>
          </p:cNvPr>
          <p:cNvSpPr txBox="1"/>
          <p:nvPr/>
        </p:nvSpPr>
        <p:spPr>
          <a:xfrm>
            <a:off x="169334" y="55724"/>
            <a:ext cx="12022666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GH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Presence / background data</a:t>
            </a:r>
          </a:p>
          <a:p>
            <a:pPr fontAlgn="base"/>
            <a:r>
              <a:rPr lang="en-GH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 </a:t>
            </a:r>
            <a:r>
              <a:rPr lang="en-GH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absence data is not available</a:t>
            </a:r>
            <a:r>
              <a:rPr lang="en-GH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one wants to fit a maxent model, </a:t>
            </a:r>
            <a:r>
              <a:rPr lang="en-GH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r>
              <a:rPr lang="en-GH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data can be generated.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937988-B996-8CE1-BCC5-69FFA09BA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2" y="1348508"/>
            <a:ext cx="11771635" cy="18749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73EF57-4D9F-F622-73B4-BEF6622D2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8047" y="3348254"/>
            <a:ext cx="7894204" cy="3232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822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99BA-4C14-CC82-144D-D256F8D0E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8B6B8B2-38AC-F0F1-D853-25851AA40F4E}"/>
              </a:ext>
            </a:extLst>
          </p:cNvPr>
          <p:cNvSpPr/>
          <p:nvPr/>
        </p:nvSpPr>
        <p:spPr>
          <a:xfrm>
            <a:off x="118533" y="150091"/>
            <a:ext cx="11904134" cy="65578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352DC0-4F48-8902-EE8F-C10638DEF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3" y="150515"/>
            <a:ext cx="11607031" cy="23074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F13D9A-AEE0-13B2-1D3F-C20E31334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6648" y="2557652"/>
            <a:ext cx="7772400" cy="4050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9209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8417A-7CB9-01F4-A0FC-4D6DF3E0E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098C6BE-B255-1A86-D26E-DC72578789CA}"/>
              </a:ext>
            </a:extLst>
          </p:cNvPr>
          <p:cNvSpPr/>
          <p:nvPr/>
        </p:nvSpPr>
        <p:spPr>
          <a:xfrm>
            <a:off x="118533" y="150091"/>
            <a:ext cx="11904134" cy="65578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0CCAE7-06B6-7441-45AB-EDD846E62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3" y="221673"/>
            <a:ext cx="11690158" cy="18608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7BA15FC-F317-AE88-ED96-FC4924D885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4400" y="2286000"/>
            <a:ext cx="7772400" cy="4045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8709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626D7-EA64-A52B-213D-3D8770E90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F031EBB-6DA7-A305-458E-0E1F53F81A15}"/>
              </a:ext>
            </a:extLst>
          </p:cNvPr>
          <p:cNvSpPr/>
          <p:nvPr/>
        </p:nvSpPr>
        <p:spPr>
          <a:xfrm>
            <a:off x="118533" y="150091"/>
            <a:ext cx="11904134" cy="65578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C33CF2-4642-59BE-3DB1-60C0385E0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3" y="232641"/>
            <a:ext cx="11671762" cy="13190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C85D33A-B95B-43E5-07ED-EC58A5CCB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8984" y="1636180"/>
            <a:ext cx="6594032" cy="4989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5778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BB385-39D2-D969-8461-BACA3EBC5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40D1675-AB87-3E24-57FA-8C1070330F89}"/>
              </a:ext>
            </a:extLst>
          </p:cNvPr>
          <p:cNvSpPr/>
          <p:nvPr/>
        </p:nvSpPr>
        <p:spPr>
          <a:xfrm>
            <a:off x="118533" y="150091"/>
            <a:ext cx="11904134" cy="65578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580E74-9CF1-80E7-2DD2-BFF028490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398" y="3429000"/>
            <a:ext cx="10703274" cy="12815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D50578-18E2-5459-5985-D26D0F4C7F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2815" y="1451264"/>
            <a:ext cx="8706370" cy="1281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1907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DF0DD-49A7-EFE5-DED3-3AADBC375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339473D-8D27-9A1F-B624-E43CC523E409}"/>
              </a:ext>
            </a:extLst>
          </p:cNvPr>
          <p:cNvSpPr/>
          <p:nvPr/>
        </p:nvSpPr>
        <p:spPr>
          <a:xfrm>
            <a:off x="1441161" y="150091"/>
            <a:ext cx="8903856" cy="65578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E2A36F-A303-7586-A74C-E6E8BC761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8341" y="253422"/>
            <a:ext cx="6469495" cy="19016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BC4FEB-4969-44D4-AE4F-3897F4C11B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212799"/>
            <a:ext cx="7772400" cy="4437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4836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32653-B624-C3FE-72F1-23568114B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0FB67D0-9210-9B84-89FD-242776750344}"/>
              </a:ext>
            </a:extLst>
          </p:cNvPr>
          <p:cNvSpPr/>
          <p:nvPr/>
        </p:nvSpPr>
        <p:spPr>
          <a:xfrm>
            <a:off x="708955" y="150091"/>
            <a:ext cx="10882681" cy="65578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E0FF3F-30EE-FFE5-A582-0B8480C25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7161" y="780472"/>
            <a:ext cx="5902037" cy="6524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199CE72-1757-BDD0-91AF-53A7049BD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572" y="1767777"/>
            <a:ext cx="10537473" cy="158502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B5B9268-9C06-99C1-F11B-342B17500F88}"/>
              </a:ext>
            </a:extLst>
          </p:cNvPr>
          <p:cNvSpPr txBox="1"/>
          <p:nvPr/>
        </p:nvSpPr>
        <p:spPr>
          <a:xfrm>
            <a:off x="2978726" y="4674923"/>
            <a:ext cx="58189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MaxEnt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Takes a bit longer to run!!!!</a:t>
            </a:r>
          </a:p>
        </p:txBody>
      </p:sp>
    </p:spTree>
    <p:extLst>
      <p:ext uri="{BB962C8B-B14F-4D97-AF65-F5344CB8AC3E}">
        <p14:creationId xmlns:p14="http://schemas.microsoft.com/office/powerpoint/2010/main" val="28048751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3950A-ABC7-E895-7E48-EC346372B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4EF00-8386-03CB-FA6B-F64A2AE32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127" y="48635"/>
            <a:ext cx="10515600" cy="413183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 1.2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D316E-2F1A-6C32-87A4-7F4DB3FD8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065" y="1231260"/>
            <a:ext cx="11701135" cy="5474340"/>
          </a:xfrm>
          <a:solidFill>
            <a:srgbClr val="FFCE3C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Packages, data, and function to accomplish the challenge: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H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Files to use</a:t>
            </a:r>
            <a:b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occurrenceRecords.csv</a:t>
            </a:r>
            <a: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b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"Present Benthic OceanTemperature LtMax.tif”"</a:t>
            </a:r>
            <a:b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"Present Benthic OceanTemperature LtMin.tif”"</a:t>
            </a:r>
            <a:b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"Present Benthic pH Mean.tif”"</a:t>
            </a:r>
            <a:b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Benthic Salinity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Mean.tif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b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“Present Surface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OceanTemperature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LtMax.tif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b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“Present Surface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OceanTemperature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LtMin.tif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b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H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to use</a:t>
            </a:r>
            <a:b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library (</a:t>
            </a:r>
            <a:r>
              <a:rPr lang="en-GH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are starting over again</a:t>
            </a:r>
            <a: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rast</a:t>
            </a:r>
            <a:b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</a:t>
            </a:r>
            <a:b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studyRegion</a:t>
            </a:r>
            <a:b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backgroundInformation</a:t>
            </a:r>
            <a:b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</a:t>
            </a:r>
            <a:b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mask</a:t>
            </a:r>
            <a:b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generateModelData</a:t>
            </a:r>
            <a:b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trainModel</a:t>
            </a:r>
            <a:b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H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predictModel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C34F03-0E21-B443-D033-51ECAFD46358}"/>
              </a:ext>
            </a:extLst>
          </p:cNvPr>
          <p:cNvSpPr txBox="1"/>
          <p:nvPr/>
        </p:nvSpPr>
        <p:spPr>
          <a:xfrm>
            <a:off x="186065" y="461818"/>
            <a:ext cx="1181987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H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of this challenge is to </a:t>
            </a:r>
            <a:r>
              <a:rPr lang="en-GH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</a:t>
            </a:r>
            <a:r>
              <a:rPr lang="en-GH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 maxent model to occurrence (presence / background) and environmental data – Study region: </a:t>
            </a:r>
            <a:r>
              <a:rPr lang="en-GH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your own choice</a:t>
            </a:r>
            <a:r>
              <a:rPr lang="en-GH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1299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745</Words>
  <Application>Microsoft Macintosh PowerPoint</Application>
  <PresentationFormat>Widescreen</PresentationFormat>
  <Paragraphs>56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Aptos</vt:lpstr>
      <vt:lpstr>Aptos Display</vt:lpstr>
      <vt:lpstr>Arial</vt:lpstr>
      <vt:lpstr>Times New Roman</vt:lpstr>
      <vt:lpstr>Office Theme</vt:lpstr>
      <vt:lpstr>Developing Species Distribution Models in 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LAB Building an SDM for Seagrass and Corals</vt:lpstr>
      <vt:lpstr>Model fitting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Challenge 1.1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Challenge 1.2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Emmanuel K Asante</dc:creator>
  <cp:lastModifiedBy>Emmanuel K Asante</cp:lastModifiedBy>
  <cp:revision>26</cp:revision>
  <dcterms:created xsi:type="dcterms:W3CDTF">2026-10-28T13:15:45Z</dcterms:created>
  <dcterms:modified xsi:type="dcterms:W3CDTF">2026-10-29T11:08:07Z</dcterms:modified>
</cp:coreProperties>
</file>